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lexandri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lexandri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lexandri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7ba2fb70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7ba2fb70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6fd3d659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6fd3d659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57ba2fb7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57ba2fb7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7ba2fb7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7ba2fb7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7ba2fb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7ba2fb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7ba2fb7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7ba2fb7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fd3d65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fd3d65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6fd3d659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6fd3d65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fd3d659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6fd3d659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5625cff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5625cff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.png"/><Relationship Id="rId13" Type="http://schemas.openxmlformats.org/officeDocument/2006/relationships/image" Target="../media/image9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9" Type="http://schemas.openxmlformats.org/officeDocument/2006/relationships/image" Target="../media/image4.jpg"/><Relationship Id="rId14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5" Type="http://schemas.openxmlformats.org/officeDocument/2006/relationships/image" Target="../media/image10.jpg"/><Relationship Id="rId6" Type="http://schemas.openxmlformats.org/officeDocument/2006/relationships/image" Target="../media/image22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gif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lexandria"/>
                <a:ea typeface="Alexandria"/>
                <a:cs typeface="Alexandria"/>
                <a:sym typeface="Alexandria"/>
              </a:rPr>
              <a:t>#26 dr </a:t>
            </a:r>
            <a:r>
              <a:rPr b="1" lang="en">
                <a:solidFill>
                  <a:srgbClr val="B4A7D6"/>
                </a:solidFill>
                <a:latin typeface="Alexandria"/>
                <a:ea typeface="Alexandria"/>
                <a:cs typeface="Alexandria"/>
                <a:sym typeface="Alexandria"/>
              </a:rPr>
              <a:t>AI</a:t>
            </a:r>
            <a:r>
              <a:rPr b="1" lang="en">
                <a:latin typeface="Alexandria"/>
                <a:ea typeface="Alexandria"/>
                <a:cs typeface="Alexandria"/>
                <a:sym typeface="Alexandria"/>
              </a:rPr>
              <a:t>d</a:t>
            </a:r>
            <a:endParaRPr b="1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latin typeface="Alexandria"/>
                <a:ea typeface="Alexandria"/>
                <a:cs typeface="Alexandria"/>
                <a:sym typeface="Alexandria"/>
              </a:rPr>
              <a:t>Recupera </a:t>
            </a: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tiempo</a:t>
            </a:r>
            <a:r>
              <a:rPr lang="en">
                <a:solidFill>
                  <a:srgbClr val="999999"/>
                </a:solidFill>
                <a:latin typeface="Alexandria"/>
                <a:ea typeface="Alexandria"/>
                <a:cs typeface="Alexandria"/>
                <a:sym typeface="Alexandria"/>
              </a:rPr>
              <a:t>. Entiende al paciente. Salva</a:t>
            </a: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 vidas.</a:t>
            </a:r>
            <a:endParaRPr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56" name="Google Shape;56;p13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5999" y="174425"/>
            <a:ext cx="3528665" cy="7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326" y="209599"/>
            <a:ext cx="4220325" cy="6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3840px-Bosch-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450" y="4659540"/>
            <a:ext cx="873252" cy="19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AW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299" y="4620501"/>
            <a:ext cx="471688" cy="28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logo-compluempren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2724" y="4658476"/>
            <a:ext cx="844452" cy="25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-estampaci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4187" y="4638756"/>
            <a:ext cx="844452" cy="26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logo-otnculab-color-jpg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92020" y="4503750"/>
            <a:ext cx="1117008" cy="52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mcdonalds-yellow-m-symbol-logo-high-resolution-70175169479008933cofjbaa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99207" y="4527749"/>
            <a:ext cx="441904" cy="441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downloa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51329" y="4620490"/>
            <a:ext cx="1117006" cy="283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Screenshot 2026-04-08 at 16.40.28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34292" y="4629812"/>
            <a:ext cx="441894" cy="284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Screenshot 2026-04-08 at 16.21.21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8628" y="4564656"/>
            <a:ext cx="279179" cy="38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Screenshot 2026-04-08 at 16.22.17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78344" y="4564673"/>
            <a:ext cx="252706" cy="38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26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El problema de las consultas</a:t>
            </a:r>
            <a:endParaRPr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267911" y="1217289"/>
            <a:ext cx="3296100" cy="10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Historiales clínicos fragmentados: </a:t>
            </a:r>
            <a:r>
              <a:rPr lang="en" sz="14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informes en PDF, datos dispersos, sistemas poco conectados…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74" name="Google Shape;74;p14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7980" y="3624008"/>
            <a:ext cx="1205175" cy="12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567" y="3712383"/>
            <a:ext cx="1259325" cy="10284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267911" y="2357864"/>
            <a:ext cx="32961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Los médicos llegan a la consulta </a:t>
            </a:r>
            <a:r>
              <a:rPr b="1" lang="en" sz="14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sin saber realmente nada sobre qué le pasa al paciente </a:t>
            </a:r>
            <a:endParaRPr sz="16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837921" y="1295402"/>
            <a:ext cx="4161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xandria"/>
              <a:buChar char="●"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pérdida de tiempo</a:t>
            </a:r>
            <a:endParaRPr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xandria"/>
              <a:buChar char="●"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menor calidad</a:t>
            </a:r>
            <a:r>
              <a:rPr lang="en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 en la atención</a:t>
            </a:r>
            <a:endParaRPr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xandria"/>
              <a:buChar char="●"/>
            </a:pPr>
            <a:r>
              <a:rPr lang="en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decisiones con </a:t>
            </a: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falta de contexto</a:t>
            </a:r>
            <a:endParaRPr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exandria"/>
              <a:buChar char="●"/>
            </a:pPr>
            <a:r>
              <a:rPr lang="en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citas innecesarias</a:t>
            </a:r>
            <a:endParaRPr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exandria"/>
              <a:buChar char="●"/>
            </a:pPr>
            <a:r>
              <a:rPr lang="en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casos urgentes </a:t>
            </a: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no se detectan</a:t>
            </a:r>
            <a:r>
              <a:rPr lang="en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 a tiempo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​​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0161" y="1539402"/>
            <a:ext cx="1205175" cy="12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26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Nuestra solución</a:t>
            </a:r>
            <a:endParaRPr>
              <a:solidFill>
                <a:srgbClr val="674EA7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86" name="Google Shape;86;p15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311700" y="1541863"/>
            <a:ext cx="23091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Voz e IA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417450" y="1541863"/>
            <a:ext cx="23091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Dashboard de triage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462450" y="1541863"/>
            <a:ext cx="23091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Búsqueda inteligente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91" name="Google Shape;91;p15" title="360_F_447219906_tGgRTL61bGlYNQhmnVDsEiKpLXiV0Od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638" y="2472101"/>
            <a:ext cx="1879225" cy="17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pngtree-dashboard-line-icon-vector-png-image_662660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90942" y="2545226"/>
            <a:ext cx="15621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title="51911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99525" y="2708801"/>
            <a:ext cx="1234950" cy="12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2100"/>
            <a:ext cx="8839204" cy="457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4658" l="1644" r="54743" t="56819"/>
          <a:stretch/>
        </p:blipFill>
        <p:spPr>
          <a:xfrm>
            <a:off x="781838" y="837437"/>
            <a:ext cx="7580324" cy="346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00" y="1274825"/>
            <a:ext cx="8920376" cy="259384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3264275" y="2464512"/>
            <a:ext cx="2448600" cy="296100"/>
          </a:xfrm>
          <a:prstGeom prst="rect">
            <a:avLst/>
          </a:prstGeom>
          <a:noFill/>
          <a:ln cap="flat" cmpd="sng" w="87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075" lIns="105075" spcFirstLastPara="1" rIns="105075" wrap="square" tIns="105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9"/>
          </a:p>
        </p:txBody>
      </p:sp>
      <p:sp>
        <p:nvSpPr>
          <p:cNvPr id="110" name="Google Shape;110;p18"/>
          <p:cNvSpPr txBox="1"/>
          <p:nvPr/>
        </p:nvSpPr>
        <p:spPr>
          <a:xfrm>
            <a:off x="1634375" y="436050"/>
            <a:ext cx="5708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“nitroglycerin treatment”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587" y="372637"/>
            <a:ext cx="3730825" cy="43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26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Detalles técnicos</a:t>
            </a:r>
            <a:endParaRPr/>
          </a:p>
        </p:txBody>
      </p:sp>
      <p:pic>
        <p:nvPicPr>
          <p:cNvPr id="121" name="Google Shape;121;p20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311700" y="1541863"/>
            <a:ext cx="23091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Búsqueda semántica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3218163" y="1541863"/>
            <a:ext cx="23091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Privacidad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124625" y="1541875"/>
            <a:ext cx="26469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Escalabilidad</a:t>
            </a:r>
            <a:endParaRPr b="1" sz="2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741600" y="2843858"/>
            <a:ext cx="2309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Palabras clave</a:t>
            </a:r>
            <a:endParaRPr b="1" sz="21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Conceptos</a:t>
            </a:r>
            <a:endParaRPr b="1" sz="21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27" name="Google Shape;127;p20" title="360_F_634916208_WFE5CdK4p1L5DfQGW8jy5A3d9N7LcGZg.jpg"/>
          <p:cNvPicPr preferRelativeResize="0"/>
          <p:nvPr/>
        </p:nvPicPr>
        <p:blipFill rotWithShape="1">
          <a:blip r:embed="rId5">
            <a:alphaModFix/>
          </a:blip>
          <a:srcRect b="0" l="51201" r="8282" t="0"/>
          <a:stretch/>
        </p:blipFill>
        <p:spPr>
          <a:xfrm>
            <a:off x="254000" y="2775325"/>
            <a:ext cx="487607" cy="6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360_F_634916208_WFE5CdK4p1L5DfQGW8jy5A3d9N7LcGZg.jpg"/>
          <p:cNvPicPr preferRelativeResize="0"/>
          <p:nvPr/>
        </p:nvPicPr>
        <p:blipFill rotWithShape="1">
          <a:blip r:embed="rId5">
            <a:alphaModFix/>
          </a:blip>
          <a:srcRect b="0" l="0" r="49138" t="0"/>
          <a:stretch/>
        </p:blipFill>
        <p:spPr>
          <a:xfrm>
            <a:off x="149283" y="3403129"/>
            <a:ext cx="612130" cy="6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3218175" y="2843858"/>
            <a:ext cx="2309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Ejecución on-premise</a:t>
            </a:r>
            <a:endParaRPr b="1" sz="21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293525" y="2843858"/>
            <a:ext cx="2309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Alexandria"/>
                <a:ea typeface="Alexandria"/>
                <a:cs typeface="Alexandria"/>
                <a:sym typeface="Alexandria"/>
              </a:rPr>
              <a:t>Modelos avanzados</a:t>
            </a:r>
            <a:endParaRPr b="1" sz="21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26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Impacto / Business Model</a:t>
            </a:r>
            <a:endParaRPr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094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CLIENTES </a:t>
            </a:r>
            <a:endParaRPr b="1" sz="1200"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Empresas de software sanitario que ya tienen contratos con hospitales (</a:t>
            </a:r>
            <a:r>
              <a:rPr b="1"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B2B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)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CÓMO GENERAMOS INGRESOS</a:t>
            </a:r>
            <a:endParaRPr b="1" sz="1200"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Principal — Licencia anual del módulo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 para integración en software sanitario existente.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Recurrente — 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Mantenimiento y soporte técnico 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5029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Puntual — 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Desarrollo de </a:t>
            </a:r>
            <a:r>
              <a:rPr b="1"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funcionalidades personalizadas</a:t>
            </a: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 adaptadas a cada software.</a:t>
            </a:r>
            <a:endParaRPr sz="12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37" name="Google Shape;137;p21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407100" y="2278525"/>
            <a:ext cx="4779600" cy="20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COSTES</a:t>
            </a:r>
            <a:endParaRPr b="1" sz="1200"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exandria"/>
              <a:buChar char="●"/>
            </a:pP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Desarrollo y evolución del producto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exandria"/>
              <a:buChar char="●"/>
            </a:pP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Mantenimiento continuo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exandria"/>
              <a:buChar char="●"/>
            </a:pP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Cumplimiento normativo en protección de datos sanitarios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exandria"/>
              <a:buChar char="●"/>
            </a:pPr>
            <a:r>
              <a:rPr lang="en" sz="1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rPr>
              <a:t>Procesos de venta e implementación</a:t>
            </a:r>
            <a:endParaRPr sz="1200">
              <a:solidFill>
                <a:schemeClr val="dk1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3625" y="752375"/>
            <a:ext cx="1199000" cy="11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262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Por qu</a:t>
            </a:r>
            <a:r>
              <a:rPr lang="en">
                <a:solidFill>
                  <a:srgbClr val="8E7CC3"/>
                </a:solidFill>
                <a:latin typeface="Alexandria"/>
                <a:ea typeface="Alexandria"/>
                <a:cs typeface="Alexandria"/>
                <a:sym typeface="Alexandria"/>
              </a:rPr>
              <a:t>é nosotras</a:t>
            </a:r>
            <a:endParaRPr>
              <a:solidFill>
                <a:srgbClr val="8E7CC3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094300"/>
            <a:ext cx="536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Char char="●"/>
            </a:pP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Perspectiva t</a:t>
            </a: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écnica 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Char char="●"/>
            </a:pP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Contacto directo con profesionales de la salud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Char char="●"/>
            </a:pP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Capacidad de pensamiento crítico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Char char="●"/>
            </a:pP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Experiencia de trabajo en equipo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lexandria"/>
              <a:buChar char="●"/>
            </a:pPr>
            <a:r>
              <a:rPr lang="en" sz="2000">
                <a:latin typeface="Alexandria"/>
                <a:ea typeface="Alexandria"/>
                <a:cs typeface="Alexandria"/>
                <a:sym typeface="Alexandria"/>
              </a:rPr>
              <a:t>Ganas de ayudar y aportar valor real</a:t>
            </a:r>
            <a:endParaRPr sz="2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47" name="Google Shape;147;p22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8050" y="1319600"/>
            <a:ext cx="2001550" cy="20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2344224" y="2285400"/>
            <a:ext cx="508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G</a:t>
            </a: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racias por vuestra atenci</a:t>
            </a:r>
            <a:r>
              <a:rPr lang="en">
                <a:latin typeface="Alexandria"/>
                <a:ea typeface="Alexandria"/>
                <a:cs typeface="Alexandria"/>
                <a:sym typeface="Alexandria"/>
              </a:rPr>
              <a:t>ón.</a:t>
            </a:r>
            <a:endParaRPr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55" name="Google Shape;155;p23" title="LOGOcombined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8477" y="4713375"/>
            <a:ext cx="1133081" cy="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 title="HSPH_HSIL_logo_horiz_1_RG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331" y="4724670"/>
            <a:ext cx="1355175" cy="224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